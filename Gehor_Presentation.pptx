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71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</a:defRPr>
            </a:pPr>
            <a:r>
              <a:t>CAMPUS GRIEVANCE FRICTION &amp; OPERATIONAL BREAKDOWN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The Problem: Why Student Grievance Redressal Fails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173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In higher education institutions, fragmented department silos, cumbersome portal forms, and zero urgency triage result in severe student dissatisfaction and overlooked campus hazards.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03120"/>
            <a:ext cx="3364992" cy="4114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2331720"/>
            <a:ext cx="2907792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F43F5E"/>
                </a:solidFill>
              </a:defRPr>
            </a:pPr>
            <a:r>
              <a:rPr dirty="0"/>
              <a:t>PAIN POINT 01</a:t>
            </a:r>
          </a:p>
          <a:p>
            <a:pPr>
              <a:spcAft>
                <a:spcPts val="1200"/>
              </a:spcAft>
              <a:defRPr sz="1700" b="1">
                <a:solidFill>
                  <a:srgbClr val="F8FAFC"/>
                </a:solidFill>
              </a:defRPr>
            </a:pPr>
            <a:r>
              <a:rPr dirty="0"/>
              <a:t>The Department Silo &amp; Black Hole</a:t>
            </a:r>
          </a:p>
          <a:p>
            <a:pPr>
              <a:defRPr sz="2000" b="1">
                <a:solidFill>
                  <a:srgbClr val="F43F5E"/>
                </a:solidFill>
              </a:defRPr>
            </a:pPr>
            <a:r>
              <a:rPr dirty="0"/>
              <a:t>68% Drop-off Rate</a:t>
            </a:r>
          </a:p>
          <a:p>
            <a:pPr>
              <a:spcAft>
                <a:spcPts val="1400"/>
              </a:spcAft>
              <a:defRPr sz="1000" i="1">
                <a:solidFill>
                  <a:srgbClr val="94A3B8"/>
                </a:solidFill>
              </a:defRPr>
            </a:pPr>
            <a:r>
              <a:rPr dirty="0"/>
              <a:t>on complex, multi-field ERP grievance forms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</a:defRPr>
            </a:pPr>
            <a:r>
              <a:rPr dirty="0"/>
              <a:t>• Students don't know who handles what (IT vs. Estate vs. Maintenance vs. Hostel).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</a:defRPr>
            </a:pPr>
            <a:r>
              <a:rPr dirty="0"/>
              <a:t>• Rigid ERP portals demand 10+ mandatory dropdown fields before submission.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</a:defRPr>
            </a:pPr>
            <a:r>
              <a:rPr dirty="0"/>
              <a:t>• Misrouted tickets sit idle for 3–5 days before being reassigned or rejected.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8264" y="2103120"/>
            <a:ext cx="3364992" cy="4114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626864" y="2331720"/>
            <a:ext cx="2907792" cy="31085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F59E0B"/>
                </a:solidFill>
              </a:defRPr>
            </a:pPr>
            <a:r>
              <a:rPr dirty="0"/>
              <a:t>PAIN POINT 02</a:t>
            </a:r>
          </a:p>
          <a:p>
            <a:pPr>
              <a:spcAft>
                <a:spcPts val="1200"/>
              </a:spcAft>
              <a:defRPr sz="1700" b="1">
                <a:solidFill>
                  <a:srgbClr val="F8FAFC"/>
                </a:solidFill>
              </a:defRPr>
            </a:pPr>
            <a:r>
              <a:rPr dirty="0"/>
              <a:t>Safety &amp; Safeguarding </a:t>
            </a:r>
            <a:r>
              <a:rPr dirty="0" err="1"/>
              <a:t>Blindspots</a:t>
            </a:r>
            <a:endParaRPr dirty="0"/>
          </a:p>
          <a:p>
            <a:pPr>
              <a:defRPr sz="2000" b="1">
                <a:solidFill>
                  <a:srgbClr val="F59E0B"/>
                </a:solidFill>
              </a:defRPr>
            </a:pPr>
            <a:r>
              <a:rPr dirty="0"/>
              <a:t>Zero Urgency Triage</a:t>
            </a:r>
          </a:p>
          <a:p>
            <a:pPr>
              <a:spcAft>
                <a:spcPts val="1400"/>
              </a:spcAft>
              <a:defRPr sz="1000" i="1">
                <a:solidFill>
                  <a:srgbClr val="94A3B8"/>
                </a:solidFill>
              </a:defRPr>
            </a:pPr>
            <a:r>
              <a:rPr dirty="0"/>
              <a:t>High-risk safety hazards treated as routine maintenance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</a:defRPr>
            </a:pPr>
            <a:r>
              <a:rPr dirty="0"/>
              <a:t>• Life-safety hazards (sparking conduits, gas leaks, water flooding) get queued behind routine queries.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</a:defRPr>
            </a:pPr>
            <a:r>
              <a:rPr dirty="0"/>
              <a:t>• Zero-tolerance safeguarding issues (ragging, bullying, harassment</a:t>
            </a:r>
            <a:r>
              <a:rPr lang="en-US" dirty="0"/>
              <a:t> including both physical </a:t>
            </a:r>
            <a:r>
              <a:rPr lang="en-US" dirty="0" err="1"/>
              <a:t>i.e</a:t>
            </a:r>
            <a:r>
              <a:rPr lang="en-US" dirty="0"/>
              <a:t> sexual and mental harassments of all kind</a:t>
            </a:r>
            <a:r>
              <a:rPr dirty="0"/>
              <a:t>) lack immediate panic-escalation.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</a:defRPr>
            </a:pPr>
            <a:r>
              <a:rPr dirty="0"/>
              <a:t>• Unverified complaints cause false-flag chaos, while real victims stay silent.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65008" y="2103120"/>
            <a:ext cx="3364992" cy="4114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93608" y="2331720"/>
            <a:ext cx="2907792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F43F5E"/>
                </a:solidFill>
              </a:defRPr>
            </a:pPr>
            <a:r>
              <a:t>PAIN POINT 03</a:t>
            </a:r>
          </a:p>
          <a:p>
            <a:pPr>
              <a:spcAft>
                <a:spcPts val="1200"/>
              </a:spcAft>
              <a:defRPr sz="1700" b="1">
                <a:solidFill>
                  <a:srgbClr val="F8FAFC"/>
                </a:solidFill>
              </a:defRPr>
            </a:pPr>
            <a:r>
              <a:t>Administrative Opacity &amp; Fatigue</a:t>
            </a:r>
          </a:p>
          <a:p>
            <a:pPr>
              <a:defRPr sz="2000" b="1">
                <a:solidFill>
                  <a:srgbClr val="F43F5E"/>
                </a:solidFill>
              </a:defRPr>
            </a:pPr>
            <a:r>
              <a:t>4.2x Duplication</a:t>
            </a:r>
          </a:p>
          <a:p>
            <a:pPr>
              <a:spcAft>
                <a:spcPts val="1400"/>
              </a:spcAft>
              <a:defRPr sz="1000" i="1">
                <a:solidFill>
                  <a:srgbClr val="94A3B8"/>
                </a:solidFill>
              </a:defRPr>
            </a:pPr>
            <a:r>
              <a:t>Repeated submissions for the same open issue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</a:defRPr>
            </a:pPr>
            <a:r>
              <a:t>• Zero real-time progress visibility creates student anxiety and repeated follow-ups.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</a:defRPr>
            </a:pPr>
            <a:r>
              <a:t>• Facility staff receive unstructured complaints lacking location, photos, or symptoms.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</a:defRPr>
            </a:pPr>
            <a:r>
              <a:t>• Institutional leadership lacks unified SLA analytics and performance auditing.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5508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Gehör Architecture | 16-Hour Hackathon Presentation | Page 1 of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THE REVOLUTIONARY CAMPUS AI GRIEVANCE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The Solution: Gehör (🎙️ 'Being Heard')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173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An end-to-end conversational AI intake desk, deterministic life-safety override pipeline, and progressive autonomous routing engine running 100% offline with zero cloud dependency.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03120"/>
            <a:ext cx="3364992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2331720"/>
            <a:ext cx="2907792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10B981"/>
                </a:solidFill>
              </a:defRPr>
            </a:pPr>
            <a:r>
              <a:t>SOLUTION PILLAR 01</a:t>
            </a:r>
          </a:p>
          <a:p>
            <a:pPr>
              <a:spcAft>
                <a:spcPts val="1200"/>
              </a:spcAft>
              <a:defRPr sz="1700" b="1">
                <a:solidFill>
                  <a:srgbClr val="F8FAFC"/>
                </a:solidFill>
              </a:defRPr>
            </a:pPr>
            <a:r>
              <a:t>Conversational WhatsApp Intake Desk</a:t>
            </a:r>
          </a:p>
          <a:p>
            <a:pPr>
              <a:defRPr sz="2000" b="1">
                <a:solidFill>
                  <a:srgbClr val="10B981"/>
                </a:solidFill>
              </a:defRPr>
            </a:pPr>
            <a:r>
              <a:t>Sub-60s Filing</a:t>
            </a:r>
          </a:p>
          <a:p>
            <a:pPr>
              <a:spcAft>
                <a:spcPts val="1400"/>
              </a:spcAft>
              <a:defRPr sz="1000" i="1">
                <a:solidFill>
                  <a:srgbClr val="94A3B8"/>
                </a:solidFill>
              </a:defRPr>
            </a:pPr>
            <a:r>
              <a:t>Natural language intake with zero form fatigue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</a:defRPr>
            </a:pPr>
            <a:r>
              <a:t>✔ Natural multi-turn slot filling extracts location, category, and symptoms automatically.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</a:defRPr>
            </a:pPr>
            <a:r>
              <a:t>✔ Active duplicate detection warns students of existing open tickets at the same location.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</a:defRPr>
            </a:pPr>
            <a:r>
              <a:t>✔ Generates instant Structured Confirmation Cards with 1-click 'Confirm &amp; Submit'.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8264" y="2103120"/>
            <a:ext cx="3364992" cy="4114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626864" y="2331720"/>
            <a:ext cx="2907792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6B6D4"/>
                </a:solidFill>
              </a:defRPr>
            </a:pPr>
            <a:r>
              <a:t>SOLUTION PILLAR 02</a:t>
            </a:r>
          </a:p>
          <a:p>
            <a:pPr>
              <a:spcAft>
                <a:spcPts val="1200"/>
              </a:spcAft>
              <a:defRPr sz="1700" b="1">
                <a:solidFill>
                  <a:srgbClr val="F8FAFC"/>
                </a:solidFill>
              </a:defRPr>
            </a:pPr>
            <a:r>
              <a:t>Deterministic Safety &amp; Anti-Ragging Guard</a:t>
            </a:r>
          </a:p>
          <a:p>
            <a:pPr>
              <a:defRPr sz="2000" b="1">
                <a:solidFill>
                  <a:srgbClr val="06B6D4"/>
                </a:solidFill>
              </a:defRPr>
            </a:pPr>
            <a:r>
              <a:t>0ms Latency Override</a:t>
            </a:r>
          </a:p>
          <a:p>
            <a:pPr>
              <a:spcAft>
                <a:spcPts val="1400"/>
              </a:spcAft>
              <a:defRPr sz="1000" i="1">
                <a:solidFill>
                  <a:srgbClr val="94A3B8"/>
                </a:solidFill>
              </a:defRPr>
            </a:pPr>
            <a:r>
              <a:t>Life-safety emergencies bypass routine AI queue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</a:defRPr>
            </a:pPr>
            <a:r>
              <a:t>✔ Pattern guards instantly classify Ragging, Violence, Harassment, and Fire as CRITICAL.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</a:defRPr>
            </a:pPr>
            <a:r>
              <a:t>✔ Routes immediately to Anti-Ragging Committee or Campus Security.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</a:defRPr>
            </a:pPr>
            <a:r>
              <a:t>✔ Institutional Email Friction Gate deters false reports while expediting dispatch.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65008" y="2103120"/>
            <a:ext cx="3364992" cy="4114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93608" y="2331720"/>
            <a:ext cx="2907792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10B981"/>
                </a:solidFill>
              </a:defRPr>
            </a:pPr>
            <a:r>
              <a:t>SOLUTION PILLAR 03</a:t>
            </a:r>
          </a:p>
          <a:p>
            <a:pPr>
              <a:spcAft>
                <a:spcPts val="1200"/>
              </a:spcAft>
              <a:defRPr sz="1700" b="1">
                <a:solidFill>
                  <a:srgbClr val="F8FAFC"/>
                </a:solidFill>
              </a:defRPr>
            </a:pPr>
            <a:r>
              <a:t>Autonomous Triage &amp; 9-Point SOP Briefs</a:t>
            </a:r>
          </a:p>
          <a:p>
            <a:pPr>
              <a:defRPr sz="2000" b="1">
                <a:solidFill>
                  <a:srgbClr val="10B981"/>
                </a:solidFill>
              </a:defRPr>
            </a:pPr>
            <a:r>
              <a:t>85%+ Autonomous SLA</a:t>
            </a:r>
          </a:p>
          <a:p>
            <a:pPr>
              <a:spcAft>
                <a:spcPts val="1400"/>
              </a:spcAft>
              <a:defRPr sz="1000" i="1">
                <a:solidFill>
                  <a:srgbClr val="94A3B8"/>
                </a:solidFill>
              </a:defRPr>
            </a:pPr>
            <a:r>
              <a:t>Progressive autonomy with supervisor-in-the-loop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</a:defRPr>
            </a:pPr>
            <a:r>
              <a:t>✔ Routes tickets directly to designated staff (IT, Grounds, Maintenance, Catering).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</a:defRPr>
            </a:pPr>
            <a:r>
              <a:t>✔ Generates actionable 9-point SOP resolution plans tailored to technician recipients.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</a:defRPr>
            </a:pPr>
            <a:r>
              <a:t>✔ Real-time student stepper tracking + Admin command center with SLA analytics.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5508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Gehör Architecture | 16-Hour Hackathon Presentation | Page 2 of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4D1FD6-4D3A-EAB2-0119-5E4E2CC46E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71A0924-6DD9-A59A-760A-7C8F99604673}"/>
              </a:ext>
            </a:extLst>
          </p:cNvPr>
          <p:cNvSpPr txBox="1"/>
          <p:nvPr/>
        </p:nvSpPr>
        <p:spPr>
          <a:xfrm>
            <a:off x="731520" y="777240"/>
            <a:ext cx="106984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rPr lang="en-US" dirty="0"/>
              <a:t>Tech Stack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FF62E88-AF44-AB17-ABF5-F41ACD5B2E00}"/>
              </a:ext>
            </a:extLst>
          </p:cNvPr>
          <p:cNvSpPr txBox="1"/>
          <p:nvPr/>
        </p:nvSpPr>
        <p:spPr>
          <a:xfrm>
            <a:off x="731520" y="1417320"/>
            <a:ext cx="10698480" cy="3554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rPr lang="en-US" sz="1500" dirty="0"/>
              <a:t>Frontend (The User Interface &amp; Admin Dashboard)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rPr lang="en-US" sz="1500" dirty="0"/>
              <a:t>React &amp; Vite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rPr lang="en-US" sz="1500" dirty="0"/>
              <a:t>Tailwind CSS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rPr lang="en-US" sz="1500" dirty="0"/>
              <a:t>Backend (The API &amp; Routing Logic)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rPr lang="en-US" sz="1500" dirty="0"/>
              <a:t>Python &amp; </a:t>
            </a:r>
            <a:r>
              <a:rPr lang="en-US" sz="1500" dirty="0" err="1"/>
              <a:t>FastAPI</a:t>
            </a:r>
            <a:endParaRPr lang="en-US" sz="1500" dirty="0"/>
          </a:p>
          <a:p>
            <a:pPr>
              <a:defRPr sz="1300">
                <a:solidFill>
                  <a:srgbClr val="94A3B8"/>
                </a:solidFill>
              </a:defRPr>
            </a:pPr>
            <a:r>
              <a:rPr lang="en-US" sz="1500" dirty="0" err="1"/>
              <a:t>Uvicorn</a:t>
            </a:r>
            <a:endParaRPr lang="en-US" sz="1500" dirty="0"/>
          </a:p>
          <a:p>
            <a:pPr>
              <a:defRPr sz="1300">
                <a:solidFill>
                  <a:srgbClr val="94A3B8"/>
                </a:solidFill>
              </a:defRPr>
            </a:pPr>
            <a:endParaRPr lang="en-US" sz="1500" dirty="0"/>
          </a:p>
          <a:p>
            <a:pPr>
              <a:defRPr sz="1300">
                <a:solidFill>
                  <a:srgbClr val="94A3B8"/>
                </a:solidFill>
              </a:defRPr>
            </a:pPr>
            <a:r>
              <a:rPr lang="en-US" sz="1500" dirty="0"/>
              <a:t>AI Engine (The Triage Brain)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rPr lang="en-US" sz="1500" dirty="0" err="1"/>
              <a:t>Ollama</a:t>
            </a:r>
            <a:r>
              <a:rPr lang="en-US" sz="1500" dirty="0"/>
              <a:t>: An open-source local inference engine that acts as a drop-in replacement for cloud APIs. It allows you to run large language models directly on your hardware.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rPr lang="en-US" sz="1500" dirty="0"/>
              <a:t>Qwen 3 4B (via Few-Shot Prompting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endParaRPr lang="en-US" sz="1500" dirty="0"/>
          </a:p>
          <a:p>
            <a:pPr>
              <a:defRPr sz="1300">
                <a:solidFill>
                  <a:srgbClr val="94A3B8"/>
                </a:solidFill>
              </a:defRPr>
            </a:pPr>
            <a:r>
              <a:rPr lang="en-US" sz="1500" dirty="0"/>
              <a:t>Database &amp; Testing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rPr lang="en-US" sz="1500" dirty="0"/>
              <a:t>SQLite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rPr lang="en-US" sz="1500" dirty="0" err="1"/>
              <a:t>Pytest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21861223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178</TotalTime>
  <Words>547</Words>
  <Application>Microsoft Office PowerPoint</Application>
  <PresentationFormat>Widescreen</PresentationFormat>
  <Paragraphs>65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Aditya Raj</cp:lastModifiedBy>
  <cp:revision>2</cp:revision>
  <dcterms:created xsi:type="dcterms:W3CDTF">2013-01-27T09:14:16Z</dcterms:created>
  <dcterms:modified xsi:type="dcterms:W3CDTF">2026-10-10T03:20:50Z</dcterms:modified>
  <cp:category/>
</cp:coreProperties>
</file>